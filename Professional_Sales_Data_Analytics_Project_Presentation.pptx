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10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B4E1785-1357-4287-A3FA-EB8D9DEA1506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4EA19681-657F-4000-97F5-53D16469AA68}">
      <dgm:prSet/>
      <dgm:spPr/>
      <dgm:t>
        <a:bodyPr/>
        <a:lstStyle/>
        <a:p>
          <a:pPr>
            <a:defRPr cap="all"/>
          </a:pPr>
          <a:r>
            <a:rPr lang="en-US"/>
            <a:t>Thank you for reviewing this project.</a:t>
          </a:r>
        </a:p>
      </dgm:t>
    </dgm:pt>
    <dgm:pt modelId="{3DADDC52-E5F8-4D2D-98A1-7D51443513E5}" type="parTrans" cxnId="{5305C803-2460-43B5-86AD-10D367D5072C}">
      <dgm:prSet/>
      <dgm:spPr/>
      <dgm:t>
        <a:bodyPr/>
        <a:lstStyle/>
        <a:p>
          <a:endParaRPr lang="en-US"/>
        </a:p>
      </dgm:t>
    </dgm:pt>
    <dgm:pt modelId="{1F7E7849-C07C-4230-9F5B-3FD7CC552C1F}" type="sibTrans" cxnId="{5305C803-2460-43B5-86AD-10D367D5072C}">
      <dgm:prSet/>
      <dgm:spPr/>
      <dgm:t>
        <a:bodyPr/>
        <a:lstStyle/>
        <a:p>
          <a:endParaRPr lang="en-US"/>
        </a:p>
      </dgm:t>
    </dgm:pt>
    <dgm:pt modelId="{17916C9F-E106-423E-BA8B-F9050D3D2399}">
      <dgm:prSet custT="1"/>
      <dgm:spPr/>
      <dgm:t>
        <a:bodyPr/>
        <a:lstStyle/>
        <a:p>
          <a:pPr>
            <a:defRPr cap="all"/>
          </a:pPr>
          <a:r>
            <a:rPr lang="en-US" sz="1400" dirty="0"/>
            <a:t>Prepared by: </a:t>
          </a:r>
        </a:p>
        <a:p>
          <a:pPr>
            <a:defRPr cap="all"/>
          </a:pPr>
          <a:r>
            <a:rPr lang="en-US" sz="1400" dirty="0"/>
            <a:t>Aditya Sandip Deshmukh</a:t>
          </a:r>
          <a:br>
            <a:rPr lang="en-US" sz="1400" dirty="0"/>
          </a:br>
          <a:r>
            <a:rPr lang="en-US" sz="1100" cap="none" dirty="0"/>
            <a:t>Data analyst portfolio project</a:t>
          </a:r>
          <a:endParaRPr lang="en-US" sz="1400" dirty="0"/>
        </a:p>
      </dgm:t>
    </dgm:pt>
    <dgm:pt modelId="{B8B39527-31EA-4D56-ADF1-A49CE6E85B33}" type="parTrans" cxnId="{FF5DD9C8-1C03-4720-83B0-E6EC65529BF6}">
      <dgm:prSet/>
      <dgm:spPr/>
      <dgm:t>
        <a:bodyPr/>
        <a:lstStyle/>
        <a:p>
          <a:endParaRPr lang="en-US"/>
        </a:p>
      </dgm:t>
    </dgm:pt>
    <dgm:pt modelId="{1B28D462-38F0-4A66-AD89-D3A69012476E}" type="sibTrans" cxnId="{FF5DD9C8-1C03-4720-83B0-E6EC65529BF6}">
      <dgm:prSet/>
      <dgm:spPr/>
      <dgm:t>
        <a:bodyPr/>
        <a:lstStyle/>
        <a:p>
          <a:endParaRPr lang="en-US"/>
        </a:p>
      </dgm:t>
    </dgm:pt>
    <dgm:pt modelId="{DCB4852F-1DF3-4F70-8DA1-0849A9777C9E}" type="pres">
      <dgm:prSet presAssocID="{AB4E1785-1357-4287-A3FA-EB8D9DEA1506}" presName="root" presStyleCnt="0">
        <dgm:presLayoutVars>
          <dgm:dir/>
          <dgm:resizeHandles val="exact"/>
        </dgm:presLayoutVars>
      </dgm:prSet>
      <dgm:spPr/>
    </dgm:pt>
    <dgm:pt modelId="{8AFA1F8E-BD53-4E1B-97FC-03E7FF74D9B5}" type="pres">
      <dgm:prSet presAssocID="{4EA19681-657F-4000-97F5-53D16469AA68}" presName="compNode" presStyleCnt="0"/>
      <dgm:spPr/>
    </dgm:pt>
    <dgm:pt modelId="{AAE65629-8956-4941-91C5-F64251606266}" type="pres">
      <dgm:prSet presAssocID="{4EA19681-657F-4000-97F5-53D16469AA68}" presName="iconBgRect" presStyleLbl="bgShp" presStyleIdx="0" presStyleCnt="2"/>
      <dgm:spPr/>
    </dgm:pt>
    <dgm:pt modelId="{5CE6006D-299B-4327-A15E-E8D92F7D5F39}" type="pres">
      <dgm:prSet presAssocID="{4EA19681-657F-4000-97F5-53D16469AA68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F85B2951-6AFC-4600-801D-DF802A2601FB}" type="pres">
      <dgm:prSet presAssocID="{4EA19681-657F-4000-97F5-53D16469AA68}" presName="spaceRect" presStyleCnt="0"/>
      <dgm:spPr/>
    </dgm:pt>
    <dgm:pt modelId="{6BB8C003-197D-4EF5-92A6-C3F72420B2F4}" type="pres">
      <dgm:prSet presAssocID="{4EA19681-657F-4000-97F5-53D16469AA68}" presName="textRect" presStyleLbl="revTx" presStyleIdx="0" presStyleCnt="2">
        <dgm:presLayoutVars>
          <dgm:chMax val="1"/>
          <dgm:chPref val="1"/>
        </dgm:presLayoutVars>
      </dgm:prSet>
      <dgm:spPr/>
    </dgm:pt>
    <dgm:pt modelId="{223CCEA0-01FF-401E-BB6F-3453B6AEB2F4}" type="pres">
      <dgm:prSet presAssocID="{1F7E7849-C07C-4230-9F5B-3FD7CC552C1F}" presName="sibTrans" presStyleCnt="0"/>
      <dgm:spPr/>
    </dgm:pt>
    <dgm:pt modelId="{EFBACDE5-9469-430E-B01E-1D81FC23A10D}" type="pres">
      <dgm:prSet presAssocID="{17916C9F-E106-423E-BA8B-F9050D3D2399}" presName="compNode" presStyleCnt="0"/>
      <dgm:spPr/>
    </dgm:pt>
    <dgm:pt modelId="{67BB8D53-ACC0-4A39-87D3-D196AEE6703F}" type="pres">
      <dgm:prSet presAssocID="{17916C9F-E106-423E-BA8B-F9050D3D2399}" presName="iconBgRect" presStyleLbl="bgShp" presStyleIdx="1" presStyleCnt="2"/>
      <dgm:spPr/>
    </dgm:pt>
    <dgm:pt modelId="{F6BB702C-5627-4A1E-AC70-CCCCEAC97E6C}" type="pres">
      <dgm:prSet presAssocID="{17916C9F-E106-423E-BA8B-F9050D3D2399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64597C2B-6301-451D-A9BA-8FB42140B43F}" type="pres">
      <dgm:prSet presAssocID="{17916C9F-E106-423E-BA8B-F9050D3D2399}" presName="spaceRect" presStyleCnt="0"/>
      <dgm:spPr/>
    </dgm:pt>
    <dgm:pt modelId="{8F26C374-07F6-47B7-A303-B6BA6705F910}" type="pres">
      <dgm:prSet presAssocID="{17916C9F-E106-423E-BA8B-F9050D3D2399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5305C803-2460-43B5-86AD-10D367D5072C}" srcId="{AB4E1785-1357-4287-A3FA-EB8D9DEA1506}" destId="{4EA19681-657F-4000-97F5-53D16469AA68}" srcOrd="0" destOrd="0" parTransId="{3DADDC52-E5F8-4D2D-98A1-7D51443513E5}" sibTransId="{1F7E7849-C07C-4230-9F5B-3FD7CC552C1F}"/>
    <dgm:cxn modelId="{0D70FB12-30C9-42AD-A471-02F923CA9C4D}" type="presOf" srcId="{4EA19681-657F-4000-97F5-53D16469AA68}" destId="{6BB8C003-197D-4EF5-92A6-C3F72420B2F4}" srcOrd="0" destOrd="0" presId="urn:microsoft.com/office/officeart/2018/5/layout/IconCircleLabelList"/>
    <dgm:cxn modelId="{43236650-ADA1-43AC-AF10-6F6AEFE95406}" type="presOf" srcId="{AB4E1785-1357-4287-A3FA-EB8D9DEA1506}" destId="{DCB4852F-1DF3-4F70-8DA1-0849A9777C9E}" srcOrd="0" destOrd="0" presId="urn:microsoft.com/office/officeart/2018/5/layout/IconCircleLabelList"/>
    <dgm:cxn modelId="{FF5DD9C8-1C03-4720-83B0-E6EC65529BF6}" srcId="{AB4E1785-1357-4287-A3FA-EB8D9DEA1506}" destId="{17916C9F-E106-423E-BA8B-F9050D3D2399}" srcOrd="1" destOrd="0" parTransId="{B8B39527-31EA-4D56-ADF1-A49CE6E85B33}" sibTransId="{1B28D462-38F0-4A66-AD89-D3A69012476E}"/>
    <dgm:cxn modelId="{E7BB27FC-C953-4FB8-84BE-5F019FCA24C1}" type="presOf" srcId="{17916C9F-E106-423E-BA8B-F9050D3D2399}" destId="{8F26C374-07F6-47B7-A303-B6BA6705F910}" srcOrd="0" destOrd="0" presId="urn:microsoft.com/office/officeart/2018/5/layout/IconCircleLabelList"/>
    <dgm:cxn modelId="{58FCB7F4-B6EA-4901-B277-E897230DBA15}" type="presParOf" srcId="{DCB4852F-1DF3-4F70-8DA1-0849A9777C9E}" destId="{8AFA1F8E-BD53-4E1B-97FC-03E7FF74D9B5}" srcOrd="0" destOrd="0" presId="urn:microsoft.com/office/officeart/2018/5/layout/IconCircleLabelList"/>
    <dgm:cxn modelId="{1D06C74A-7133-4C08-AE30-7F381500F9F1}" type="presParOf" srcId="{8AFA1F8E-BD53-4E1B-97FC-03E7FF74D9B5}" destId="{AAE65629-8956-4941-91C5-F64251606266}" srcOrd="0" destOrd="0" presId="urn:microsoft.com/office/officeart/2018/5/layout/IconCircleLabelList"/>
    <dgm:cxn modelId="{F963FADC-5550-468A-97E0-67486A4C37F9}" type="presParOf" srcId="{8AFA1F8E-BD53-4E1B-97FC-03E7FF74D9B5}" destId="{5CE6006D-299B-4327-A15E-E8D92F7D5F39}" srcOrd="1" destOrd="0" presId="urn:microsoft.com/office/officeart/2018/5/layout/IconCircleLabelList"/>
    <dgm:cxn modelId="{CBDAFD93-1E8D-4E92-B547-F1548E211810}" type="presParOf" srcId="{8AFA1F8E-BD53-4E1B-97FC-03E7FF74D9B5}" destId="{F85B2951-6AFC-4600-801D-DF802A2601FB}" srcOrd="2" destOrd="0" presId="urn:microsoft.com/office/officeart/2018/5/layout/IconCircleLabelList"/>
    <dgm:cxn modelId="{BE862A55-1514-4672-87A0-3784E6C2A86D}" type="presParOf" srcId="{8AFA1F8E-BD53-4E1B-97FC-03E7FF74D9B5}" destId="{6BB8C003-197D-4EF5-92A6-C3F72420B2F4}" srcOrd="3" destOrd="0" presId="urn:microsoft.com/office/officeart/2018/5/layout/IconCircleLabelList"/>
    <dgm:cxn modelId="{E63E1396-C34C-48CB-995D-8DD33430E4DE}" type="presParOf" srcId="{DCB4852F-1DF3-4F70-8DA1-0849A9777C9E}" destId="{223CCEA0-01FF-401E-BB6F-3453B6AEB2F4}" srcOrd="1" destOrd="0" presId="urn:microsoft.com/office/officeart/2018/5/layout/IconCircleLabelList"/>
    <dgm:cxn modelId="{D452BD07-9558-47B6-9E22-18301CC5B267}" type="presParOf" srcId="{DCB4852F-1DF3-4F70-8DA1-0849A9777C9E}" destId="{EFBACDE5-9469-430E-B01E-1D81FC23A10D}" srcOrd="2" destOrd="0" presId="urn:microsoft.com/office/officeart/2018/5/layout/IconCircleLabelList"/>
    <dgm:cxn modelId="{6A05D939-386C-42FB-8EFC-10D40D763AC0}" type="presParOf" srcId="{EFBACDE5-9469-430E-B01E-1D81FC23A10D}" destId="{67BB8D53-ACC0-4A39-87D3-D196AEE6703F}" srcOrd="0" destOrd="0" presId="urn:microsoft.com/office/officeart/2018/5/layout/IconCircleLabelList"/>
    <dgm:cxn modelId="{797AA722-CC01-494D-AC3E-A738A1CE0EEB}" type="presParOf" srcId="{EFBACDE5-9469-430E-B01E-1D81FC23A10D}" destId="{F6BB702C-5627-4A1E-AC70-CCCCEAC97E6C}" srcOrd="1" destOrd="0" presId="urn:microsoft.com/office/officeart/2018/5/layout/IconCircleLabelList"/>
    <dgm:cxn modelId="{E19B78BA-8E6E-4B41-AFFD-73F233EB6EA8}" type="presParOf" srcId="{EFBACDE5-9469-430E-B01E-1D81FC23A10D}" destId="{64597C2B-6301-451D-A9BA-8FB42140B43F}" srcOrd="2" destOrd="0" presId="urn:microsoft.com/office/officeart/2018/5/layout/IconCircleLabelList"/>
    <dgm:cxn modelId="{61FFD1EA-9BD8-40FF-A5F6-631B0735751B}" type="presParOf" srcId="{EFBACDE5-9469-430E-B01E-1D81FC23A10D}" destId="{8F26C374-07F6-47B7-A303-B6BA6705F91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E65629-8956-4941-91C5-F64251606266}">
      <dsp:nvSpPr>
        <dsp:cNvPr id="0" name=""/>
        <dsp:cNvSpPr/>
      </dsp:nvSpPr>
      <dsp:spPr>
        <a:xfrm>
          <a:off x="2313911" y="10409"/>
          <a:ext cx="1955812" cy="195581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E6006D-299B-4327-A15E-E8D92F7D5F39}">
      <dsp:nvSpPr>
        <dsp:cNvPr id="0" name=""/>
        <dsp:cNvSpPr/>
      </dsp:nvSpPr>
      <dsp:spPr>
        <a:xfrm>
          <a:off x="2730723" y="427222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B8C003-197D-4EF5-92A6-C3F72420B2F4}">
      <dsp:nvSpPr>
        <dsp:cNvPr id="0" name=""/>
        <dsp:cNvSpPr/>
      </dsp:nvSpPr>
      <dsp:spPr>
        <a:xfrm>
          <a:off x="1688692" y="2575410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Thank you for reviewing this project.</a:t>
          </a:r>
        </a:p>
      </dsp:txBody>
      <dsp:txXfrm>
        <a:off x="1688692" y="2575410"/>
        <a:ext cx="3206250" cy="720000"/>
      </dsp:txXfrm>
    </dsp:sp>
    <dsp:sp modelId="{67BB8D53-ACC0-4A39-87D3-D196AEE6703F}">
      <dsp:nvSpPr>
        <dsp:cNvPr id="0" name=""/>
        <dsp:cNvSpPr/>
      </dsp:nvSpPr>
      <dsp:spPr>
        <a:xfrm>
          <a:off x="6081255" y="10409"/>
          <a:ext cx="1955812" cy="195581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BB702C-5627-4A1E-AC70-CCCCEAC97E6C}">
      <dsp:nvSpPr>
        <dsp:cNvPr id="0" name=""/>
        <dsp:cNvSpPr/>
      </dsp:nvSpPr>
      <dsp:spPr>
        <a:xfrm>
          <a:off x="6498067" y="427222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26C374-07F6-47B7-A303-B6BA6705F910}">
      <dsp:nvSpPr>
        <dsp:cNvPr id="0" name=""/>
        <dsp:cNvSpPr/>
      </dsp:nvSpPr>
      <dsp:spPr>
        <a:xfrm>
          <a:off x="5456036" y="2575410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 dirty="0"/>
            <a:t>Prepared by: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 dirty="0"/>
            <a:t>Aditya Sandip Deshmukh</a:t>
          </a:r>
          <a:br>
            <a:rPr lang="en-US" sz="1400" kern="1200" dirty="0"/>
          </a:br>
          <a:r>
            <a:rPr lang="en-US" sz="1100" kern="1200" cap="none" dirty="0"/>
            <a:t>Data analyst portfolio project</a:t>
          </a:r>
          <a:endParaRPr lang="en-US" sz="1400" kern="1200" dirty="0"/>
        </a:p>
      </dsp:txBody>
      <dsp:txXfrm>
        <a:off x="5456036" y="2575410"/>
        <a:ext cx="32062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4854" y="1122363"/>
            <a:ext cx="8999118" cy="2387600"/>
          </a:xfrm>
        </p:spPr>
        <p:txBody>
          <a:bodyPr anchor="b">
            <a:normAutofit/>
          </a:bodyPr>
          <a:lstStyle>
            <a:lvl1pPr algn="ctr">
              <a:defRPr sz="47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4854" y="3602038"/>
            <a:ext cx="8999118" cy="1655762"/>
          </a:xfrm>
        </p:spPr>
        <p:txBody>
          <a:bodyPr/>
          <a:lstStyle>
            <a:lvl1pPr marL="0" indent="0" algn="ctr">
              <a:buNone/>
              <a:defRPr sz="2399"/>
            </a:lvl1pPr>
            <a:lvl2pPr marL="457063" indent="0" algn="ctr">
              <a:buNone/>
              <a:defRPr sz="19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291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656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924" y="657227"/>
            <a:ext cx="9730977" cy="2852737"/>
          </a:xfrm>
        </p:spPr>
        <p:txBody>
          <a:bodyPr anchor="b">
            <a:normAutofit/>
          </a:bodyPr>
          <a:lstStyle>
            <a:lvl1pPr>
              <a:defRPr sz="33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924" y="3602039"/>
            <a:ext cx="9730977" cy="1500187"/>
          </a:xfrm>
        </p:spPr>
        <p:txBody>
          <a:bodyPr/>
          <a:lstStyle>
            <a:lvl1pPr marL="0" indent="0" algn="ctr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1pPr>
            <a:lvl2pPr marL="457063" indent="0">
              <a:buNone/>
              <a:defRPr sz="19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616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557" y="609601"/>
            <a:ext cx="10351065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557" y="2088320"/>
            <a:ext cx="510467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1796" y="2088320"/>
            <a:ext cx="5092827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695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557" y="609601"/>
            <a:ext cx="1035106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507" y="2088320"/>
            <a:ext cx="487792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557" y="2912232"/>
            <a:ext cx="510587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336" y="2088320"/>
            <a:ext cx="486428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593" y="2912232"/>
            <a:ext cx="5094030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206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436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221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6990" y="609600"/>
            <a:ext cx="3931213" cy="2362200"/>
          </a:xfrm>
        </p:spPr>
        <p:txBody>
          <a:bodyPr anchor="b">
            <a:normAutofit/>
          </a:bodyPr>
          <a:lstStyle>
            <a:lvl1pPr>
              <a:defRPr sz="27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6742" y="609600"/>
            <a:ext cx="6187880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6990" y="2971801"/>
            <a:ext cx="3931213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368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6989" y="609600"/>
            <a:ext cx="5928229" cy="2362200"/>
          </a:xfrm>
        </p:spPr>
        <p:txBody>
          <a:bodyPr anchor="b">
            <a:normAutofit/>
          </a:bodyPr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2871" y="758881"/>
            <a:ext cx="3254508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556" y="2971800"/>
            <a:ext cx="5933404" cy="2819400"/>
          </a:xfrm>
        </p:spPr>
        <p:txBody>
          <a:bodyPr>
            <a:normAutofit/>
          </a:bodyPr>
          <a:lstStyle>
            <a:lvl1pPr marL="0" indent="0" algn="ctr">
              <a:buNone/>
              <a:defRPr sz="1799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526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568" y="4289373"/>
            <a:ext cx="10364864" cy="819355"/>
          </a:xfrm>
        </p:spPr>
        <p:txBody>
          <a:bodyPr anchor="b">
            <a:normAutofit/>
          </a:bodyPr>
          <a:lstStyle>
            <a:lvl1pPr>
              <a:defRPr sz="27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568" y="621322"/>
            <a:ext cx="103648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557" y="5108728"/>
            <a:ext cx="10363299" cy="682472"/>
          </a:xfrm>
        </p:spPr>
        <p:txBody>
          <a:bodyPr>
            <a:normAutofit/>
          </a:bodyPr>
          <a:lstStyle>
            <a:lvl1pPr marL="0" indent="0" algn="ctr">
              <a:buNone/>
              <a:defRPr sz="1799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368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557" y="609601"/>
            <a:ext cx="10351066" cy="3424859"/>
          </a:xfrm>
        </p:spPr>
        <p:txBody>
          <a:bodyPr anchor="ctr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557" y="4204820"/>
            <a:ext cx="10351065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1195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5836" y="609600"/>
            <a:ext cx="9300329" cy="2992904"/>
          </a:xfrm>
        </p:spPr>
        <p:txBody>
          <a:bodyPr anchor="ctr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196" y="3610032"/>
            <a:ext cx="8750020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556" y="4204821"/>
            <a:ext cx="10351066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394" y="735241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998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5181" y="2972093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998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069735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569" y="2126943"/>
            <a:ext cx="10352630" cy="2511835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556" y="4650556"/>
            <a:ext cx="10351067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5802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556" y="609601"/>
            <a:ext cx="10351066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556" y="2088320"/>
            <a:ext cx="3298097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399" b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556" y="2911624"/>
            <a:ext cx="3298097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3720" y="2088320"/>
            <a:ext cx="3297699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399" b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3721" y="2911624"/>
            <a:ext cx="3298962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1222" y="2088320"/>
            <a:ext cx="3290354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399" b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4269" y="2911624"/>
            <a:ext cx="3290354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7032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557" y="609601"/>
            <a:ext cx="10351066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557" y="4195899"/>
            <a:ext cx="32980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999" b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1736" y="2298987"/>
            <a:ext cx="2939284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557" y="4772161"/>
            <a:ext cx="329809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1544" y="4195899"/>
            <a:ext cx="3298124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999" b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7807" y="2298987"/>
            <a:ext cx="2929762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0191" y="4772160"/>
            <a:ext cx="3299477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1347" y="4195899"/>
            <a:ext cx="328904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999" b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0681" y="2298987"/>
            <a:ext cx="2931349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1222" y="4772162"/>
            <a:ext cx="3293400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4204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5403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2628" y="609600"/>
            <a:ext cx="254199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556" y="609600"/>
            <a:ext cx="7656711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94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557" y="609601"/>
            <a:ext cx="10351065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557" y="2096064"/>
            <a:ext cx="10351066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6736" y="5883276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557" y="5883276"/>
            <a:ext cx="66711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1273" y="5883276"/>
            <a:ext cx="7533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2573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914126" rtl="0" eaLnBrk="1" latinLnBrk="0" hangingPunct="1">
        <a:lnSpc>
          <a:spcPct val="90000"/>
        </a:lnSpc>
        <a:spcBef>
          <a:spcPct val="0"/>
        </a:spcBef>
        <a:buNone/>
        <a:defRPr sz="3399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594" indent="-228531" algn="l" defTabSz="914126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2657" indent="-228531" algn="l" defTabSz="914126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926188" y="609600"/>
            <a:ext cx="6338433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/>
            </a:pPr>
            <a:r>
              <a:rPr lang="en-US" sz="3100" b="1" cap="all"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rPr>
              <a:t>  Sales Data Cleaning, Analysis &amp;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26187" y="2096064"/>
            <a:ext cx="6338434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90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This project demonstrates the complete data analytics process using a retail sales dataset.</a:t>
            </a:r>
          </a:p>
          <a:p>
            <a:pPr indent="-228600" defTabSz="9144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90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 The work starts with raw, unclean data and ends with business insights </a:t>
            </a:r>
          </a:p>
          <a:p>
            <a:pPr indent="-228600" defTabSz="9144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90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and an interactive dashboard.</a:t>
            </a:r>
          </a:p>
          <a:p>
            <a:pPr indent="-228600" defTabSz="9144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90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The project was completed using Python, Pandas, Matplotlib, Excel, and Power BI. </a:t>
            </a:r>
          </a:p>
          <a:p>
            <a:pPr indent="-228600" defTabSz="9144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90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The objective was to transform unreliable data into meaningful information </a:t>
            </a:r>
          </a:p>
          <a:p>
            <a:pPr indent="-228600" defTabSz="9144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90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</a:rPr>
              <a:t>that supports business decisions.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2A31A05-19BB-4F84-9402-E8569CBDB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34799" y="45720"/>
            <a:ext cx="0" cy="6766560"/>
          </a:xfrm>
          <a:prstGeom prst="line">
            <a:avLst/>
          </a:prstGeom>
          <a:ln w="190500" cap="sq">
            <a:solidFill>
              <a:srgbClr val="FFFFFF"/>
            </a:solidFill>
            <a:miter lim="800000"/>
          </a:ln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51976CC4-F266-8E0A-B586-2130268690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45720"/>
            <a:ext cx="450087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1139952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/>
            </a:pPr>
            <a:r>
              <a:rPr lang="en-US" sz="3200" dirty="0"/>
              <a:t>  </a:t>
            </a:r>
          </a:p>
          <a:p>
            <a:pPr>
              <a:defRPr sz="2800"/>
            </a:pPr>
            <a:endParaRPr lang="en-US" sz="3200" dirty="0"/>
          </a:p>
          <a:p>
            <a:pPr>
              <a:defRPr sz="2800"/>
            </a:pPr>
            <a:r>
              <a:rPr lang="en-US" sz="3200" dirty="0"/>
              <a:t>  </a:t>
            </a:r>
            <a:r>
              <a:rPr sz="3200" dirty="0"/>
              <a:t>Business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007355" cy="25545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endParaRPr lang="en-US" dirty="0"/>
          </a:p>
          <a:p>
            <a:pPr>
              <a:defRPr sz="2000"/>
            </a:pPr>
            <a:endParaRPr lang="en-US" dirty="0"/>
          </a:p>
          <a:p>
            <a:pPr>
              <a:defRPr sz="2000"/>
            </a:pPr>
            <a:endParaRPr lang="en-US" dirty="0"/>
          </a:p>
          <a:p>
            <a:pPr>
              <a:defRPr sz="2000"/>
            </a:pPr>
            <a:r>
              <a:rPr dirty="0"/>
              <a:t>The company collects sales data every day, but the dataset contains missing values, </a:t>
            </a:r>
            <a:endParaRPr lang="en-US" dirty="0"/>
          </a:p>
          <a:p>
            <a:pPr>
              <a:defRPr sz="2000"/>
            </a:pPr>
            <a:r>
              <a:rPr dirty="0"/>
              <a:t>duplicate records, incorrect data types, inconsistent text, and other quality issues. </a:t>
            </a:r>
            <a:endParaRPr lang="en-US" dirty="0"/>
          </a:p>
          <a:p>
            <a:pPr>
              <a:defRPr sz="2000"/>
            </a:pPr>
            <a:r>
              <a:rPr dirty="0"/>
              <a:t>These problems make reporting unreliable.</a:t>
            </a:r>
          </a:p>
          <a:p>
            <a:pPr>
              <a:defRPr sz="2000"/>
            </a:pPr>
            <a:r>
              <a:rPr dirty="0"/>
              <a:t>Management cannot confidently identify the best products, profitable regions, </a:t>
            </a:r>
            <a:endParaRPr lang="en-US" dirty="0"/>
          </a:p>
          <a:p>
            <a:pPr>
              <a:defRPr sz="2000"/>
            </a:pPr>
            <a:r>
              <a:rPr dirty="0"/>
              <a:t>customer trends, or monthly sales performance without first cleaning the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02689" y="274320"/>
            <a:ext cx="3844770" cy="1446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rPr lang="en-US" dirty="0"/>
              <a:t> </a:t>
            </a:r>
          </a:p>
          <a:p>
            <a:pPr>
              <a:defRPr sz="2800"/>
            </a:pPr>
            <a:endParaRPr lang="en-US" dirty="0"/>
          </a:p>
          <a:p>
            <a:pPr>
              <a:defRPr sz="2800"/>
            </a:pPr>
            <a:r>
              <a:rPr lang="en-US" sz="3200" dirty="0"/>
              <a:t>  </a:t>
            </a:r>
            <a:r>
              <a:rPr sz="3200" dirty="0"/>
              <a:t>Project Objectives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1040" y="1720870"/>
            <a:ext cx="7190558" cy="1631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dirty="0"/>
              <a:t>• Improve data quality.</a:t>
            </a:r>
            <a:br>
              <a:rPr dirty="0"/>
            </a:br>
            <a:r>
              <a:rPr dirty="0"/>
              <a:t>• Clean and standardize the dataset.</a:t>
            </a:r>
            <a:br>
              <a:rPr dirty="0"/>
            </a:br>
            <a:r>
              <a:rPr dirty="0"/>
              <a:t>• Perform exploratory data analysis.</a:t>
            </a:r>
            <a:br>
              <a:rPr dirty="0"/>
            </a:br>
            <a:r>
              <a:rPr dirty="0"/>
              <a:t>• Build charts and a Power BI dashboard.</a:t>
            </a:r>
            <a:br>
              <a:rPr dirty="0"/>
            </a:br>
            <a:r>
              <a:rPr dirty="0"/>
              <a:t>• Provide business recommendations based on the analysis.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08012" y="138728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Dataset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8012" y="1910964"/>
            <a:ext cx="10894073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dirty="0"/>
              <a:t>The dataset contains customer, product, sales, profit, quantity, city, region, payment method,</a:t>
            </a:r>
            <a:endParaRPr lang="en-US" dirty="0"/>
          </a:p>
          <a:p>
            <a:pPr>
              <a:defRPr sz="2000"/>
            </a:pPr>
            <a:r>
              <a:rPr dirty="0"/>
              <a:t> rating, and order information.</a:t>
            </a:r>
          </a:p>
          <a:p>
            <a:pPr>
              <a:defRPr sz="2000"/>
            </a:pPr>
            <a:r>
              <a:rPr dirty="0"/>
              <a:t>After cleaning, the dataset becomes consistent and ready for reporting and visualization.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79132" y="128568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rPr dirty="0"/>
              <a:t>Data Quality Issues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9132" y="1819524"/>
            <a:ext cx="9799734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dirty="0"/>
              <a:t>During exploration, several issues were identified: missing values, duplicate rows,</a:t>
            </a:r>
            <a:endParaRPr lang="en-US" dirty="0"/>
          </a:p>
          <a:p>
            <a:pPr>
              <a:defRPr sz="2000"/>
            </a:pPr>
            <a:r>
              <a:rPr dirty="0"/>
              <a:t> extra spaces, inconsistent text formatting, incorrect data types, and outliers.</a:t>
            </a:r>
          </a:p>
          <a:p>
            <a:pPr>
              <a:defRPr sz="2000"/>
            </a:pPr>
            <a:r>
              <a:rPr dirty="0"/>
              <a:t>Each issue was resolved before analysis to ensure accurate results.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08012" y="1150719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/>
            </a:pPr>
            <a:r>
              <a:rPr dirty="0"/>
              <a:t>Data Cleaning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0781" y="1727663"/>
            <a:ext cx="10740954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dirty="0"/>
              <a:t>The dataset was imported into Pandas and examined using head(), info(), describe(), </a:t>
            </a:r>
            <a:endParaRPr lang="en-US" dirty="0"/>
          </a:p>
          <a:p>
            <a:pPr>
              <a:defRPr sz="2000"/>
            </a:pPr>
            <a:r>
              <a:rPr dirty="0"/>
              <a:t>and </a:t>
            </a:r>
            <a:r>
              <a:rPr dirty="0" err="1"/>
              <a:t>isnull</a:t>
            </a:r>
            <a:r>
              <a:rPr dirty="0"/>
              <a:t>(). Missing values were handled, duplicate rows removed, text columns cleaned, </a:t>
            </a:r>
            <a:endParaRPr lang="en-US" dirty="0"/>
          </a:p>
          <a:p>
            <a:pPr>
              <a:defRPr sz="2000"/>
            </a:pPr>
            <a:r>
              <a:rPr dirty="0"/>
              <a:t>data types corrected, outliers treated, and the cleaned dataset exported.</a:t>
            </a:r>
          </a:p>
          <a:p>
            <a:pPr>
              <a:defRPr sz="2000"/>
            </a:pPr>
            <a:r>
              <a:rPr dirty="0"/>
              <a:t>These steps improved the quality and reliability of the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93191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rPr dirty="0"/>
              <a:t>Challenges &amp;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80552"/>
            <a:ext cx="10780131" cy="1631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dirty="0"/>
              <a:t>One challenge was handling missing values without affecting the overall analysis. </a:t>
            </a:r>
            <a:endParaRPr lang="en-US" dirty="0"/>
          </a:p>
          <a:p>
            <a:pPr>
              <a:defRPr sz="2000"/>
            </a:pPr>
            <a:r>
              <a:rPr dirty="0"/>
              <a:t>Another was identifying duplicate records and correcting inconsistent values </a:t>
            </a:r>
            <a:endParaRPr lang="en-US" dirty="0"/>
          </a:p>
          <a:p>
            <a:pPr>
              <a:defRPr sz="2000"/>
            </a:pPr>
            <a:r>
              <a:rPr dirty="0"/>
              <a:t>such as gender or city names.</a:t>
            </a:r>
          </a:p>
          <a:p>
            <a:pPr>
              <a:defRPr sz="2000"/>
            </a:pPr>
            <a:r>
              <a:rPr dirty="0"/>
              <a:t>Each challenge was solved using suitable Pandas functions like </a:t>
            </a:r>
            <a:r>
              <a:rPr dirty="0" err="1"/>
              <a:t>fillna</a:t>
            </a:r>
            <a:r>
              <a:rPr dirty="0"/>
              <a:t>(), </a:t>
            </a:r>
            <a:r>
              <a:rPr dirty="0" err="1"/>
              <a:t>drop_duplicates</a:t>
            </a:r>
            <a:r>
              <a:rPr dirty="0"/>
              <a:t>(), </a:t>
            </a:r>
            <a:endParaRPr lang="en-US" dirty="0"/>
          </a:p>
          <a:p>
            <a:pPr>
              <a:defRPr sz="2000"/>
            </a:pPr>
            <a:r>
              <a:rPr dirty="0" err="1"/>
              <a:t>astype</a:t>
            </a:r>
            <a:r>
              <a:rPr dirty="0"/>
              <a:t>(), </a:t>
            </a:r>
            <a:r>
              <a:rPr dirty="0" err="1"/>
              <a:t>str.strip</a:t>
            </a:r>
            <a:r>
              <a:rPr dirty="0"/>
              <a:t>(), and IQR-based outlier detection.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08012" y="1110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rPr dirty="0"/>
              <a:t>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8012" y="1658720"/>
            <a:ext cx="8975662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dirty="0"/>
              <a:t>Exploratory Data Analysis was performed to understand the dataset. </a:t>
            </a:r>
            <a:endParaRPr lang="en-US" dirty="0"/>
          </a:p>
          <a:p>
            <a:pPr>
              <a:defRPr sz="2000"/>
            </a:pPr>
            <a:r>
              <a:rPr dirty="0"/>
              <a:t>Summary statistics, value counts, group</a:t>
            </a:r>
            <a:r>
              <a:rPr lang="en-US" dirty="0"/>
              <a:t> </a:t>
            </a:r>
            <a:r>
              <a:rPr dirty="0"/>
              <a:t>by analysis, and correlation helped </a:t>
            </a:r>
            <a:endParaRPr lang="en-US" dirty="0"/>
          </a:p>
          <a:p>
            <a:pPr>
              <a:defRPr sz="2000"/>
            </a:pPr>
            <a:r>
              <a:rPr dirty="0"/>
              <a:t>identify important patterns.</a:t>
            </a:r>
          </a:p>
          <a:p>
            <a:pPr>
              <a:defRPr sz="2000"/>
            </a:pPr>
            <a:r>
              <a:rPr dirty="0"/>
              <a:t>This stage answered business questions before creating visualizations.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28320" y="957803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rPr dirty="0"/>
              <a:t>Visualizations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8320" y="1506443"/>
            <a:ext cx="10317440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dirty="0"/>
              <a:t>Charts such as Sales by City, Sales by Product Category, Payment Method Distribution,</a:t>
            </a:r>
            <a:endParaRPr lang="en-US" dirty="0"/>
          </a:p>
          <a:p>
            <a:pPr>
              <a:defRPr sz="2000"/>
            </a:pPr>
            <a:r>
              <a:rPr dirty="0"/>
              <a:t> Monthly Sales Trend, and Profit by Region were created.</a:t>
            </a:r>
          </a:p>
          <a:p>
            <a:pPr>
              <a:defRPr sz="2000"/>
            </a:pPr>
            <a:r>
              <a:rPr dirty="0"/>
              <a:t>These visualizations make complex data easier to understand and</a:t>
            </a:r>
            <a:endParaRPr lang="en-US" dirty="0"/>
          </a:p>
          <a:p>
            <a:pPr>
              <a:defRPr sz="2000"/>
            </a:pPr>
            <a:r>
              <a:rPr dirty="0"/>
              <a:t> support quick decision-making.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02689" y="914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rPr dirty="0"/>
              <a:t>Power BI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3336" y="1463040"/>
            <a:ext cx="10019281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dirty="0"/>
              <a:t>The cleaned dataset was imported into Power BI to create an interactive dashboard. </a:t>
            </a:r>
            <a:endParaRPr lang="en-US" dirty="0"/>
          </a:p>
          <a:p>
            <a:pPr>
              <a:defRPr sz="2000"/>
            </a:pPr>
            <a:r>
              <a:rPr dirty="0"/>
              <a:t>KPI cards, bar charts, line charts, donut charts, and slicers were added.</a:t>
            </a:r>
          </a:p>
          <a:p>
            <a:pPr>
              <a:defRPr sz="2000"/>
            </a:pPr>
            <a:r>
              <a:rPr dirty="0"/>
              <a:t>Managers can filter the dashboard and monitor sales performance in real time.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45452" y="9245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rPr dirty="0"/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5452" y="1473200"/>
            <a:ext cx="11121378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dirty="0"/>
              <a:t>The analysis identified the highest-performing cities, product categories,</a:t>
            </a:r>
            <a:endParaRPr lang="en-US" dirty="0"/>
          </a:p>
          <a:p>
            <a:pPr>
              <a:defRPr sz="2000"/>
            </a:pPr>
            <a:r>
              <a:rPr dirty="0"/>
              <a:t> and regions. Customer payment preferences and monthly sales trends were also discovered.</a:t>
            </a:r>
          </a:p>
          <a:p>
            <a:pPr>
              <a:defRPr sz="2000"/>
            </a:pPr>
            <a:r>
              <a:rPr dirty="0"/>
              <a:t>These findings help management focus on profitable areas and improve weaker segments.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35292" y="1021523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Business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5292" y="1570163"/>
            <a:ext cx="11198387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dirty="0"/>
              <a:t>The project helps management make data-driven decisions. It supports inventory planning,</a:t>
            </a:r>
            <a:endParaRPr lang="en-US" dirty="0"/>
          </a:p>
          <a:p>
            <a:pPr>
              <a:defRPr sz="2000"/>
            </a:pPr>
            <a:r>
              <a:rPr dirty="0"/>
              <a:t> marketing strategies, regional performance analysis, and customer satisfaction improvement.</a:t>
            </a:r>
          </a:p>
          <a:p>
            <a:pPr>
              <a:defRPr sz="2000"/>
            </a:pPr>
            <a:r>
              <a:rPr dirty="0"/>
              <a:t>Clean and accurate data increases confidence in business reports.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8229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02965"/>
            <a:ext cx="10831876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dirty="0"/>
              <a:t>This project demonstrates the complete workflow of a Data Analyst—from raw </a:t>
            </a:r>
            <a:br>
              <a:rPr lang="en-US" dirty="0"/>
            </a:br>
            <a:r>
              <a:rPr dirty="0"/>
              <a:t>data to actionable business insights. Data cleaning was the foundation for reliable analysis.</a:t>
            </a:r>
          </a:p>
          <a:p>
            <a:pPr>
              <a:defRPr sz="2000"/>
            </a:pPr>
            <a:r>
              <a:rPr dirty="0"/>
              <a:t>The final dashboard and reports provide valuable information for decision-makers.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982206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rPr dirty="0"/>
              <a:t>Lessons Learned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63317"/>
            <a:ext cx="11678069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dirty="0"/>
              <a:t>I improved my skills in Pandas, data cleaning, EDA, visualization, Power BI, </a:t>
            </a:r>
            <a:endParaRPr lang="en-US" dirty="0"/>
          </a:p>
          <a:p>
            <a:pPr>
              <a:defRPr sz="2000"/>
            </a:pPr>
            <a:r>
              <a:rPr dirty="0"/>
              <a:t>and business storytelling. I also learned how important data quality is before performing analysis.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8128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rPr dirty="0"/>
              <a:t>Future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61440"/>
            <a:ext cx="10064807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dirty="0"/>
              <a:t>Future enhancements include connecting the project to SQL Server, </a:t>
            </a:r>
            <a:endParaRPr lang="en-US" dirty="0"/>
          </a:p>
          <a:p>
            <a:pPr>
              <a:defRPr sz="2000"/>
            </a:pPr>
            <a:r>
              <a:rPr dirty="0"/>
              <a:t>automating data refresh, adding forecasting, and building machine learning models </a:t>
            </a:r>
            <a:endParaRPr lang="en-US" dirty="0"/>
          </a:p>
          <a:p>
            <a:pPr>
              <a:defRPr sz="2000"/>
            </a:pPr>
            <a:r>
              <a:rPr dirty="0"/>
              <a:t>for sales prediction.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557" y="609600"/>
            <a:ext cx="10351064" cy="132632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defRPr sz="2800"/>
            </a:pPr>
            <a:r>
              <a:rPr lang="en-US" sz="3400"/>
              <a:t>Thank You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A2AC96-1E47-421C-A03F-F98E354EB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95500"/>
            <a:ext cx="12188825" cy="4762500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TextBox 3">
            <a:extLst>
              <a:ext uri="{FF2B5EF4-FFF2-40B4-BE49-F238E27FC236}">
                <a16:creationId xmlns:a16="http://schemas.microsoft.com/office/drawing/2014/main" id="{621D81B5-B182-815F-3FDB-0D499BEC798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25219587"/>
              </p:ext>
            </p:extLst>
          </p:nvPr>
        </p:nvGraphicFramePr>
        <p:xfrm>
          <a:off x="914161" y="2417233"/>
          <a:ext cx="10350979" cy="33058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29</TotalTime>
  <Words>711</Words>
  <Application>Microsoft Office PowerPoint</Application>
  <PresentationFormat>Custom</PresentationFormat>
  <Paragraphs>77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Bookman Old Style</vt:lpstr>
      <vt:lpstr>Rockwell</vt:lpstr>
      <vt:lpstr>Damask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aditya deshmukh</dc:creator>
  <cp:keywords/>
  <dc:description>generated using python-pptx</dc:description>
  <cp:lastModifiedBy>aditya deshmukh</cp:lastModifiedBy>
  <cp:revision>2</cp:revision>
  <dcterms:created xsi:type="dcterms:W3CDTF">2013-01-27T09:14:16Z</dcterms:created>
  <dcterms:modified xsi:type="dcterms:W3CDTF">2026-07-02T14:45:24Z</dcterms:modified>
  <cp:category/>
</cp:coreProperties>
</file>